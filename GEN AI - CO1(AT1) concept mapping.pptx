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1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232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8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83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0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8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3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1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5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41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861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188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092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77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421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62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72B1C1-8F17-4087-83D1-89FC5F73691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CC80A-2D8F-4EDD-A2BF-AA1CD0D96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231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706366-EF0C-FB9E-D0DC-D26634EE12FC}"/>
              </a:ext>
            </a:extLst>
          </p:cNvPr>
          <p:cNvSpPr/>
          <p:nvPr/>
        </p:nvSpPr>
        <p:spPr>
          <a:xfrm>
            <a:off x="383458" y="481781"/>
            <a:ext cx="11405419" cy="58698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IN"/>
            </a:br>
            <a:endParaRPr lang="en-IN" dirty="0"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DE97479-A7B2-C053-988C-284EC0A38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95" y="953729"/>
            <a:ext cx="333375" cy="266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3DCB94-5AE6-5AC6-4FA4-D8998E860460}"/>
              </a:ext>
            </a:extLst>
          </p:cNvPr>
          <p:cNvSpPr txBox="1"/>
          <p:nvPr/>
        </p:nvSpPr>
        <p:spPr>
          <a:xfrm>
            <a:off x="1065070" y="875071"/>
            <a:ext cx="60141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E-Commerce AI Architecture Concept Map</a:t>
            </a:r>
            <a:endParaRPr lang="en-IN" sz="2400" b="0" dirty="0"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A2047E75-4D40-A6BA-8EF4-29135E05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97" y="2856036"/>
            <a:ext cx="2619375" cy="264795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F908E8BD-6AFD-343E-4D95-10C53C16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016" y="2856036"/>
            <a:ext cx="2619375" cy="26479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58E40EEB-A1AC-E43A-9168-B9323F4E0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535" y="2856036"/>
            <a:ext cx="2619375" cy="26479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CF7EC2DF-ED30-FDA0-C24A-0709A2E24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054" y="2856036"/>
            <a:ext cx="2619375" cy="26479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E8FF19C9-217F-D0B0-05FA-0E76E6B03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893" y="3036170"/>
            <a:ext cx="1200150" cy="180975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82805330-0F56-1665-34E4-4D8D0C2D6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214" y="3036170"/>
            <a:ext cx="190500" cy="180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B1B473-1A40-76C4-1FF3-1821FE283D60}"/>
              </a:ext>
            </a:extLst>
          </p:cNvPr>
          <p:cNvSpPr txBox="1"/>
          <p:nvPr/>
        </p:nvSpPr>
        <p:spPr>
          <a:xfrm>
            <a:off x="944680" y="3310401"/>
            <a:ext cx="15756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Recommendations</a:t>
            </a:r>
            <a:endParaRPr lang="en-IN" sz="1400" b="0" dirty="0">
              <a:solidFill>
                <a:schemeClr val="bg1"/>
              </a:solidFill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04D4E-C08E-013B-193E-C8387D8F0B8C}"/>
              </a:ext>
            </a:extLst>
          </p:cNvPr>
          <p:cNvSpPr txBox="1"/>
          <p:nvPr/>
        </p:nvSpPr>
        <p:spPr>
          <a:xfrm>
            <a:off x="965776" y="3659521"/>
            <a:ext cx="212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Suggests products by finding hidden correlations in user clickstreams &amp; buying patterns.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769610-BE47-106C-C0C0-BBC40C86719A}"/>
              </a:ext>
            </a:extLst>
          </p:cNvPr>
          <p:cNvSpPr txBox="1"/>
          <p:nvPr/>
        </p:nvSpPr>
        <p:spPr>
          <a:xfrm>
            <a:off x="944680" y="4332729"/>
            <a:ext cx="11249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JUSTIFICATION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80E7A4-0454-3CDF-A708-A58D7CDC0464}"/>
              </a:ext>
            </a:extLst>
          </p:cNvPr>
          <p:cNvSpPr txBox="1"/>
          <p:nvPr/>
        </p:nvSpPr>
        <p:spPr>
          <a:xfrm>
            <a:off x="928325" y="4641359"/>
            <a:ext cx="21215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0" i="0" u="none" strike="noStrike" dirty="0">
                <a:solidFill>
                  <a:srgbClr val="E2E8F0"/>
                </a:solidFill>
                <a:effectLst/>
                <a:latin typeface="Inter"/>
              </a:rPr>
              <a:t>Uses statistical Collaborative Filtering to output recommendations without hardcoded logic.</a:t>
            </a:r>
            <a:endParaRPr lang="en-IN" sz="1200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0E097734-128A-75B9-1B4C-C862663891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2148" y="3036170"/>
            <a:ext cx="1200150" cy="180975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A43F914C-9784-003B-464C-E30F1F5D52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9554" y="2950444"/>
            <a:ext cx="342900" cy="35242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41ED25FC-06FE-BDDD-716D-8CA4C6E448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7020" y="3036170"/>
            <a:ext cx="171450" cy="1809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2519274-23DF-D635-67B0-57EB0CE55E7F}"/>
              </a:ext>
            </a:extLst>
          </p:cNvPr>
          <p:cNvSpPr txBox="1"/>
          <p:nvPr/>
        </p:nvSpPr>
        <p:spPr>
          <a:xfrm>
            <a:off x="3712682" y="339727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1" i="0" u="none" strike="noStrike" dirty="0">
                <a:solidFill>
                  <a:srgbClr val="F8FAFC"/>
                </a:solidFill>
                <a:effectLst/>
                <a:latin typeface="Poppins" panose="00000500000000000000" pitchFamily="2" charset="0"/>
              </a:rPr>
              <a:t>Fraud Detection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65BB4-461A-65B3-AD75-5B430C663E0D}"/>
              </a:ext>
            </a:extLst>
          </p:cNvPr>
          <p:cNvSpPr txBox="1"/>
          <p:nvPr/>
        </p:nvSpPr>
        <p:spPr>
          <a:xfrm>
            <a:off x="3712682" y="3680584"/>
            <a:ext cx="24550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0" i="0" u="none" strike="noStrike" dirty="0">
                <a:solidFill>
                  <a:schemeClr val="bg1"/>
                </a:solidFill>
                <a:effectLst/>
                <a:latin typeface="Inter"/>
              </a:rPr>
              <a:t>Reviews real-time transaction attributes to instantly calculate risk flags.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EB37C6-B5AF-BC6B-A784-CB4C6B20EAA1}"/>
              </a:ext>
            </a:extLst>
          </p:cNvPr>
          <p:cNvSpPr txBox="1"/>
          <p:nvPr/>
        </p:nvSpPr>
        <p:spPr>
          <a:xfrm>
            <a:off x="3709721" y="4345630"/>
            <a:ext cx="237644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0" u="none" strike="noStrike" dirty="0">
                <a:solidFill>
                  <a:schemeClr val="bg1"/>
                </a:solidFill>
                <a:effectLst/>
                <a:latin typeface="Inter"/>
              </a:rPr>
              <a:t>JUSTIFICATION  </a:t>
            </a:r>
          </a:p>
          <a:p>
            <a:endParaRPr lang="en-IN" sz="1200" b="1" dirty="0">
              <a:solidFill>
                <a:schemeClr val="bg1"/>
              </a:solidFill>
              <a:latin typeface="Inter"/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Applies classification trees &amp; isolation forests that detect statistical anomalies in live streams.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br>
              <a:rPr lang="en-IN" sz="1200" dirty="0"/>
            </a:br>
            <a:endParaRPr lang="en-IN" sz="12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D01C7E6D-4832-AF33-117A-CE09B4865F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2538" y="3078611"/>
            <a:ext cx="942975" cy="180975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B7488815-A399-1A6C-C8C9-E7ADFEDFF3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0532" y="3103569"/>
            <a:ext cx="171450" cy="180975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63DDC93E-C3AE-EFE0-E057-E838095FCF3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4807" y="3031486"/>
            <a:ext cx="342900" cy="3524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98133B2-DB6B-2B93-DDED-CC43AD8F9498}"/>
              </a:ext>
            </a:extLst>
          </p:cNvPr>
          <p:cNvSpPr txBox="1"/>
          <p:nvPr/>
        </p:nvSpPr>
        <p:spPr>
          <a:xfrm>
            <a:off x="6560532" y="335714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1" i="0" u="none" strike="noStrike" dirty="0">
                <a:solidFill>
                  <a:srgbClr val="F8FAFC"/>
                </a:solidFill>
                <a:effectLst/>
                <a:latin typeface="Poppins" panose="00000500000000000000" pitchFamily="2" charset="0"/>
              </a:rPr>
              <a:t>Product Copies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E191E4-31EC-7168-26C5-A685CDF48149}"/>
              </a:ext>
            </a:extLst>
          </p:cNvPr>
          <p:cNvSpPr txBox="1"/>
          <p:nvPr/>
        </p:nvSpPr>
        <p:spPr>
          <a:xfrm>
            <a:off x="6510240" y="3649681"/>
            <a:ext cx="2409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0" i="0" u="none" strike="noStrike" dirty="0">
                <a:solidFill>
                  <a:schemeClr val="bg1"/>
                </a:solidFill>
                <a:effectLst/>
                <a:latin typeface="Inter"/>
              </a:rPr>
              <a:t>Generates marketing titles, feature sheets, and advertising copies instantly.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35E66-E962-2608-D4E7-90DA7AB675BE}"/>
              </a:ext>
            </a:extLst>
          </p:cNvPr>
          <p:cNvSpPr txBox="1"/>
          <p:nvPr/>
        </p:nvSpPr>
        <p:spPr>
          <a:xfrm>
            <a:off x="6560532" y="4371032"/>
            <a:ext cx="63270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0" u="none" strike="noStrike" dirty="0">
                <a:solidFill>
                  <a:schemeClr val="bg1"/>
                </a:solidFill>
                <a:effectLst/>
                <a:latin typeface="Inter"/>
              </a:rPr>
              <a:t>JUSTIFICATION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B57E66-F0F9-9A70-CCE2-1CB850B9ECA5}"/>
              </a:ext>
            </a:extLst>
          </p:cNvPr>
          <p:cNvSpPr txBox="1"/>
          <p:nvPr/>
        </p:nvSpPr>
        <p:spPr>
          <a:xfrm>
            <a:off x="6507295" y="4652135"/>
            <a:ext cx="22729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0" i="0" u="none" strike="noStrike" dirty="0">
                <a:solidFill>
                  <a:schemeClr val="bg1"/>
                </a:solidFill>
                <a:effectLst/>
                <a:latin typeface="Inter"/>
              </a:rPr>
              <a:t>Focuses entirely on synthesizing brand new text assets based on structural input specs.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12C371FC-2D5A-3B84-D4E7-FB34FCCF86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2979" y="3113304"/>
            <a:ext cx="1457325" cy="180975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734B4E14-4450-0AEE-17EA-55E837ABCD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3727" y="3105749"/>
            <a:ext cx="2286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74D5B13-D3FA-DF3D-F21F-08D0FB440D62}"/>
              </a:ext>
            </a:extLst>
          </p:cNvPr>
          <p:cNvSpPr txBox="1"/>
          <p:nvPr/>
        </p:nvSpPr>
        <p:spPr>
          <a:xfrm>
            <a:off x="9373155" y="3377952"/>
            <a:ext cx="19697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1" i="0" u="none" strike="noStrike" dirty="0">
                <a:solidFill>
                  <a:srgbClr val="F8FAFC"/>
                </a:solidFill>
                <a:effectLst/>
                <a:latin typeface="Poppins" panose="00000500000000000000" pitchFamily="2" charset="0"/>
              </a:rPr>
              <a:t>Chatbot Support</a:t>
            </a:r>
            <a:endParaRPr lang="en-IN" b="0" dirty="0">
              <a:effectLst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28F810-DD96-A2E2-FFFF-9C709B82DE76}"/>
              </a:ext>
            </a:extLst>
          </p:cNvPr>
          <p:cNvSpPr txBox="1"/>
          <p:nvPr/>
        </p:nvSpPr>
        <p:spPr>
          <a:xfrm>
            <a:off x="9386461" y="3635370"/>
            <a:ext cx="2103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Interacts with shoppers, solves support tickets, and clarifies shipping policies.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BA0133-7A42-5B76-3E98-4D7B773C552E}"/>
              </a:ext>
            </a:extLst>
          </p:cNvPr>
          <p:cNvSpPr txBox="1"/>
          <p:nvPr/>
        </p:nvSpPr>
        <p:spPr>
          <a:xfrm>
            <a:off x="9412430" y="4368274"/>
            <a:ext cx="18741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200" b="1" i="0" u="none" strike="noStrike" dirty="0">
                <a:solidFill>
                  <a:schemeClr val="bg1"/>
                </a:solidFill>
                <a:effectLst/>
                <a:latin typeface="Inter"/>
              </a:rPr>
              <a:t>JUSTIFICATION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Utilizes massive Transformer architectures specialized in deep contextual natural dialog.</a:t>
            </a:r>
            <a:endParaRPr lang="en-IN" sz="1200" b="0" dirty="0">
              <a:solidFill>
                <a:schemeClr val="bg1"/>
              </a:solidFill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50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9BDBAD6D-8EB7-7A96-6B32-9FDE2B88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992261"/>
            <a:ext cx="5238750" cy="41910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EE6A68EE-691F-8B47-9E29-398A18102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055" y="1992261"/>
            <a:ext cx="1143000" cy="3810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EB231A8F-4D4B-7D52-65BA-6BA30C585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881" y="3092245"/>
            <a:ext cx="1143000" cy="3810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6BF08160-CD67-49BF-3BCD-8C1E05246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881" y="4087761"/>
            <a:ext cx="1143000" cy="3810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CF7255CB-53F9-01DE-FAB1-33E0FB5D5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881" y="5039032"/>
            <a:ext cx="1143000" cy="381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602F6A-CAB5-C72E-716B-35FFFD5B6352}"/>
              </a:ext>
            </a:extLst>
          </p:cNvPr>
          <p:cNvSpPr txBox="1"/>
          <p:nvPr/>
        </p:nvSpPr>
        <p:spPr>
          <a:xfrm>
            <a:off x="1425678" y="490073"/>
            <a:ext cx="3059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The 5-Layer AI Pyramid Model</a:t>
            </a:r>
            <a:endParaRPr lang="en-IN" dirty="0"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2E57A15C-F9F0-6ABB-7137-9AF6C1FBF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27" y="595163"/>
            <a:ext cx="266700" cy="2667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E400CA-23D4-AADC-3581-EC47DB7EBBCD}"/>
              </a:ext>
            </a:extLst>
          </p:cNvPr>
          <p:cNvSpPr txBox="1"/>
          <p:nvPr/>
        </p:nvSpPr>
        <p:spPr>
          <a:xfrm>
            <a:off x="7934632" y="1969304"/>
            <a:ext cx="4060723" cy="545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050" b="1" i="0" u="none" strike="noStrike" dirty="0">
                <a:effectLst/>
                <a:latin typeface="Poppins" panose="00000500000000000000" pitchFamily="2" charset="0"/>
              </a:rPr>
              <a:t>Language Champions</a:t>
            </a:r>
          </a:p>
          <a:p>
            <a:r>
              <a:rPr lang="en-IN" sz="1400" dirty="0"/>
              <a:t>Specialized text synthesis &amp; reasoning engines (e.g. GPT-4, Llama).</a:t>
            </a:r>
          </a:p>
          <a:p>
            <a:endParaRPr lang="en-IN" sz="1400" b="0" dirty="0">
              <a:effectLst/>
            </a:endParaRPr>
          </a:p>
          <a:p>
            <a:endParaRPr lang="en-IN" sz="1400" dirty="0"/>
          </a:p>
          <a:p>
            <a:r>
              <a:rPr lang="en-IN" sz="1400" b="1" dirty="0"/>
              <a:t>Content Creators</a:t>
            </a:r>
          </a:p>
          <a:p>
            <a:r>
              <a:rPr lang="en-IN" sz="1400" dirty="0"/>
              <a:t>Creates novel structures (images, music, text, synthetic codes).</a:t>
            </a:r>
            <a:endParaRPr lang="en-IN" sz="1400" b="0" dirty="0">
              <a:effectLst/>
            </a:endParaRPr>
          </a:p>
          <a:p>
            <a:br>
              <a:rPr lang="en-IN" sz="1400" dirty="0"/>
            </a:br>
            <a:endParaRPr lang="en-IN" sz="1400" b="0" dirty="0">
              <a:effectLst/>
            </a:endParaRPr>
          </a:p>
          <a:p>
            <a:r>
              <a:rPr lang="en-IN" sz="1400" b="1" dirty="0"/>
              <a:t>Neural Network Mimics</a:t>
            </a:r>
          </a:p>
          <a:p>
            <a:r>
              <a:rPr lang="en-IN" sz="1400" dirty="0"/>
              <a:t>Multi-layered grids processing unstructured data (images, audio streams).</a:t>
            </a:r>
            <a:endParaRPr lang="en-IN" sz="1400" b="0" dirty="0">
              <a:effectLst/>
            </a:endParaRPr>
          </a:p>
          <a:p>
            <a:br>
              <a:rPr lang="en-IN" sz="1400" dirty="0"/>
            </a:br>
            <a:r>
              <a:rPr lang="en-IN" sz="1400" b="1" dirty="0"/>
              <a:t>Pattern Extractors</a:t>
            </a:r>
            <a:endParaRPr lang="en-IN" sz="1400" b="0" dirty="0">
              <a:effectLst/>
            </a:endParaRPr>
          </a:p>
          <a:p>
            <a:r>
              <a:rPr lang="en-IN" sz="1400" dirty="0"/>
              <a:t>Learns direct rules &amp; predictors dynamically from static training charts.</a:t>
            </a:r>
            <a:endParaRPr lang="en-IN" sz="1400" b="0" dirty="0">
              <a:effectLst/>
            </a:endParaRPr>
          </a:p>
          <a:p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endParaRPr lang="en-IN" sz="1400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589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</TotalTime>
  <Words>200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Century Gothic</vt:lpstr>
      <vt:lpstr>Inter</vt:lpstr>
      <vt:lpstr>Poppins</vt:lpstr>
      <vt:lpstr>Wingdings 3</vt:lpstr>
      <vt:lpstr>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MARAM HEMALATHA</dc:creator>
  <cp:lastModifiedBy>MARAM HEMALATHA</cp:lastModifiedBy>
  <cp:revision>1</cp:revision>
  <dcterms:created xsi:type="dcterms:W3CDTF">2026-07-15T04:56:27Z</dcterms:created>
  <dcterms:modified xsi:type="dcterms:W3CDTF">2026-07-15T05:53:50Z</dcterms:modified>
</cp:coreProperties>
</file>